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9"/>
    <p:restoredTop sz="94732"/>
  </p:normalViewPr>
  <p:slideViewPr>
    <p:cSldViewPr snapToGrid="0" snapToObjects="1">
      <p:cViewPr varScale="1">
        <p:scale>
          <a:sx n="97" d="100"/>
          <a:sy n="97" d="100"/>
        </p:scale>
        <p:origin x="42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31" y="1449146"/>
            <a:ext cx="7526338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8831" y="5280847"/>
            <a:ext cx="7526338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5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997" y="2222287"/>
            <a:ext cx="7524003" cy="363651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31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0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2951396"/>
            <a:ext cx="7526337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863" y="5281200"/>
            <a:ext cx="7526337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00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996" y="2222287"/>
            <a:ext cx="3670723" cy="36387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0" y="2222287"/>
            <a:ext cx="3670720" cy="36387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89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6" y="2174875"/>
            <a:ext cx="367072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96" y="2751137"/>
            <a:ext cx="3687391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2174875"/>
            <a:ext cx="3670720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751137"/>
            <a:ext cx="3670720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86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25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3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3" y="446086"/>
            <a:ext cx="2660650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46088"/>
            <a:ext cx="2660650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4" y="446087"/>
            <a:ext cx="4689475" cy="54149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2260737"/>
            <a:ext cx="2660650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8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6" y="727521"/>
            <a:ext cx="350154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9996" y="2344684"/>
            <a:ext cx="350154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7" y="6041361"/>
            <a:ext cx="73265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6041361"/>
            <a:ext cx="24715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5915887"/>
            <a:ext cx="796616" cy="4905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4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800600"/>
            <a:ext cx="752633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5367338"/>
            <a:ext cx="752633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6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85107" y="1338479"/>
            <a:ext cx="4749312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573" y="1495525"/>
            <a:ext cx="442038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226" y="4700702"/>
            <a:ext cx="4418727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8884" y="1338479"/>
            <a:ext cx="3302316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33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3" y="2286585"/>
            <a:ext cx="3671336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6" y="2435956"/>
            <a:ext cx="328689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6450" y="2286000"/>
            <a:ext cx="3671888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45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7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8" y="446089"/>
            <a:ext cx="3391762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5233988" y="0"/>
            <a:ext cx="3910012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5" y="586171"/>
            <a:ext cx="1701800" cy="51347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862" y="446089"/>
            <a:ext cx="4947376" cy="5414962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4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9997" y="447188"/>
            <a:ext cx="7524003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7" y="2184400"/>
            <a:ext cx="7524003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797" y="6041361"/>
            <a:ext cx="628953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1422" y="6041361"/>
            <a:ext cx="993161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584" y="5915887"/>
            <a:ext cx="796616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727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dirty="0"/>
              <a:t>Market Research</a:t>
            </a:r>
            <a:r>
              <a:rPr lang="en-US" dirty="0"/>
              <a:t>:</a:t>
            </a:r>
            <a:r>
              <a:rPr dirty="0"/>
              <a:t> Sell-Through Co-Pilot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3AABEE5-8021-7D4D-C9C9-E483E2619A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Companies </a:t>
            </a:r>
            <a:r>
              <a:rPr dirty="0"/>
              <a:t>Who Benefit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68078"/>
          </a:xfrm>
        </p:spPr>
        <p:txBody>
          <a:bodyPr>
            <a:normAutofit/>
          </a:bodyPr>
          <a:lstStyle/>
          <a:p>
            <a:r>
              <a:rPr dirty="0"/>
              <a:t>Large retailers &amp; e-commerce platforms: Amazon, Walmart, Target, Alibaba, Shopify merchants. (operational scale)</a:t>
            </a:r>
          </a:p>
          <a:p>
            <a:r>
              <a:rPr dirty="0"/>
              <a:t>Specialty &amp; department stores: Best Buy, Home Depot, Zara / Inditex (fast fashion inventory turnover).</a:t>
            </a:r>
          </a:p>
          <a:p>
            <a:r>
              <a:rPr dirty="0"/>
              <a:t>Manufacturers &amp; distributors: Toyota, Procter &amp; Gamble, large CPG firms (supply-side planning).</a:t>
            </a:r>
          </a:p>
          <a:p>
            <a:r>
              <a:rPr dirty="0"/>
              <a:t>3PLs &amp; logistics providers: DHL, FedEx, regional 3PLs (inventory pooling &amp; fulfillment).</a:t>
            </a:r>
          </a:p>
          <a:p>
            <a:r>
              <a:rPr dirty="0"/>
              <a:t>Marketplaces &amp; brands running promotions and ads that must coordinate inventory, price, and 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48809"/>
          </a:xfrm>
        </p:spPr>
        <p:txBody>
          <a:bodyPr>
            <a:normAutofit/>
          </a:bodyPr>
          <a:lstStyle/>
          <a:p>
            <a:r>
              <a:rPr dirty="0"/>
              <a:t>ERP &amp; WMS platforms (SAP, Oracle NetSuite, Blue Yonder/Manhattan) for master data, replenishment, and warehouse flows.</a:t>
            </a:r>
          </a:p>
          <a:p>
            <a:r>
              <a:rPr dirty="0"/>
              <a:t>Barcodes &amp; RFID for item tracking and cycle counts; IoT sensors for temperature / location in logistics. </a:t>
            </a:r>
          </a:p>
          <a:p>
            <a:r>
              <a:rPr dirty="0"/>
              <a:t>Forecasting &amp; replenishment tools (statistical + ML models) and demand planners; batch Monte‑Carlo simulation in some firms.</a:t>
            </a:r>
          </a:p>
          <a:p>
            <a:r>
              <a:rPr dirty="0"/>
              <a:t>Ad platforms &amp; marketing signals (Google, Meta, Amazon Ads) are often siloed from inventory systems.</a:t>
            </a:r>
          </a:p>
          <a:p>
            <a:r>
              <a:rPr dirty="0"/>
              <a:t>Point solutions for price/promos, digital shelf analytics, and 3PL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Sell‑Through Co‑Pilot Is Better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42791"/>
          </a:xfrm>
        </p:spPr>
        <p:txBody>
          <a:bodyPr>
            <a:normAutofit/>
          </a:bodyPr>
          <a:lstStyle/>
          <a:p>
            <a:r>
              <a:rPr dirty="0"/>
              <a:t>Joint planning across restock, discount, and ad pacing (vs siloed decisions today).</a:t>
            </a:r>
          </a:p>
          <a:p>
            <a:r>
              <a:rPr dirty="0"/>
              <a:t>GPU‑trained fast helper enables scanning thousands–millions of plans interactively (orders‑of‑magnitude speedups over slow simulators).</a:t>
            </a:r>
          </a:p>
          <a:p>
            <a:r>
              <a:rPr dirty="0"/>
              <a:t>Monte‑Carlo simulator + surrogate verification reduces bias and improves robustness vs heuristic rules.</a:t>
            </a:r>
          </a:p>
          <a:p>
            <a:r>
              <a:rPr dirty="0"/>
              <a:t>Built to bake returns, promo lift, and viral spikes into decisions — lowers run‑out risk and post‑promo leftovers.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Market Size </a:t>
            </a:r>
            <a:r>
              <a:rPr lang="en-US" dirty="0"/>
              <a:t>-</a:t>
            </a:r>
            <a:r>
              <a:rPr dirty="0"/>
              <a:t> Inventory Management &amp; Retail IT Spend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91000"/>
          </a:xfrm>
        </p:spPr>
        <p:txBody>
          <a:bodyPr>
            <a:normAutofit/>
          </a:bodyPr>
          <a:lstStyle/>
          <a:p>
            <a:r>
              <a:rPr dirty="0"/>
              <a:t>Inventory management software market estimates vary by source:</a:t>
            </a:r>
          </a:p>
          <a:p>
            <a:r>
              <a:rPr dirty="0"/>
              <a:t>Grand View Research: ≈ USD 3.58B (2024) with growth to USD 7.14B by 2033.</a:t>
            </a:r>
          </a:p>
          <a:p>
            <a:r>
              <a:rPr dirty="0"/>
              <a:t>GMI Insights: ≈ USD 3.9B (2024) with CAGR ~6.4% (2025–2034).</a:t>
            </a:r>
          </a:p>
          <a:p>
            <a:r>
              <a:rPr dirty="0"/>
              <a:t>Fortune Business Insights: ≈ USD 2.31B (2024) with projection to USD 4.79B by 2032.</a:t>
            </a:r>
          </a:p>
          <a:p>
            <a:r>
              <a:rPr dirty="0"/>
              <a:t>Retail IT spend (broader) is much larger — Gartner projections cited at hundreds of billions (e.g., ~$262.6B by 2027 for retail tech).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Pays &amp; Typical Expenditure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03034"/>
          </a:xfrm>
        </p:spPr>
        <p:txBody>
          <a:bodyPr>
            <a:normAutofit/>
          </a:bodyPr>
          <a:lstStyle/>
          <a:p>
            <a:r>
              <a:rPr dirty="0"/>
              <a:t>Large retailers operate internal supply‑chain stacks (multi‑hundred million to billion USD annual run‑rates for IT + fulfillment).</a:t>
            </a:r>
          </a:p>
          <a:p>
            <a:r>
              <a:rPr dirty="0"/>
              <a:t>Vendors (SAP, Oracle, Blue Yonder, Manhattan) derive a portion of revenue from supply‑chain &amp; WMS modules (vendor annual reports).</a:t>
            </a:r>
          </a:p>
          <a:p>
            <a:r>
              <a:rPr dirty="0"/>
              <a:t>Inventory management software market (vendors + services) captured several billion USD in 2024 (see market estimates).</a:t>
            </a:r>
          </a:p>
          <a:p>
            <a:r>
              <a:rPr dirty="0"/>
              <a:t>Retailers' tech budgets: a share of overall IT spend — orders of magnitude larger than software market alone; includes hardware (RFID readers), services, and cloud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Expenditure Breakdown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42791"/>
          </a:xfrm>
        </p:spPr>
        <p:txBody>
          <a:bodyPr>
            <a:normAutofit/>
          </a:bodyPr>
          <a:lstStyle/>
          <a:p>
            <a:r>
              <a:rPr dirty="0"/>
              <a:t>Software licenses &amp; cloud subscriptions (inventory &amp; WMS platforms).</a:t>
            </a:r>
          </a:p>
          <a:p>
            <a:r>
              <a:rPr dirty="0"/>
              <a:t>Hardware: barcode scanners, RFID tags/readers, IoT sensors, edge devices.</a:t>
            </a:r>
          </a:p>
          <a:p>
            <a:r>
              <a:rPr dirty="0"/>
              <a:t>Services &amp; integration: implementation, customization, data engineering, ongoing support.</a:t>
            </a:r>
          </a:p>
          <a:p>
            <a:r>
              <a:rPr dirty="0"/>
              <a:t>Analytics &amp; compute: training ML helpers on GPUs, simulation compute (on‑prem or cloud).</a:t>
            </a:r>
          </a:p>
          <a:p>
            <a:r>
              <a:rPr dirty="0"/>
              <a:t>Marketing/ads coordination costs when integrating ad pacing with inventory.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137991"/>
          </a:xfrm>
        </p:spPr>
        <p:txBody>
          <a:bodyPr>
            <a:normAutofit/>
          </a:bodyPr>
          <a:lstStyle/>
          <a:p>
            <a:r>
              <a:rPr dirty="0"/>
              <a:t>AI &amp; surrogate models (GPU‑accelerated) will enable interactive what‑if planning and broader adoption of Monte‑Carlo simulations.</a:t>
            </a:r>
          </a:p>
          <a:p>
            <a:r>
              <a:rPr dirty="0"/>
              <a:t>Wider RFID / IoT adoption for near‑real‑time inventory visibility (healthcare, apparel, perishables).</a:t>
            </a:r>
          </a:p>
          <a:p>
            <a:r>
              <a:rPr dirty="0"/>
              <a:t>Digital twins and end‑to‑end visibility across suppliers, 3PLs, and stores.</a:t>
            </a:r>
          </a:p>
          <a:p>
            <a:r>
              <a:rPr dirty="0"/>
              <a:t>Tighter integration with ad and promo platforms to reduce wasted ad spend and promo leftovers.</a:t>
            </a:r>
          </a:p>
          <a:p>
            <a:r>
              <a:rPr dirty="0"/>
              <a:t>SaaS + edge computing will lower adoption friction for smaller retailers.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4</TotalTime>
  <Words>676</Words>
  <Application>Microsoft Macintosh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2</vt:lpstr>
      <vt:lpstr>Quotable</vt:lpstr>
      <vt:lpstr>Market Research: Sell-Through Co-Pilot</vt:lpstr>
      <vt:lpstr>Companies Who Benefit</vt:lpstr>
      <vt:lpstr>Current Technology Used</vt:lpstr>
      <vt:lpstr>How Sell‑Through Co‑Pilot Is Better</vt:lpstr>
      <vt:lpstr>Market Size - Inventory Management &amp; Retail IT Spend</vt:lpstr>
      <vt:lpstr>Who Pays &amp; Typical Expenditure Patterns</vt:lpstr>
      <vt:lpstr>Expenditure Breakdown </vt:lpstr>
      <vt:lpstr>Future Scope &amp; Trends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Shivani Rao</cp:lastModifiedBy>
  <cp:revision>2</cp:revision>
  <dcterms:created xsi:type="dcterms:W3CDTF">2013-01-27T09:14:16Z</dcterms:created>
  <dcterms:modified xsi:type="dcterms:W3CDTF">2025-11-15T23:29:40Z</dcterms:modified>
  <cp:category/>
</cp:coreProperties>
</file>